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908" autoAdjust="0"/>
  </p:normalViewPr>
  <p:slideViewPr>
    <p:cSldViewPr snapToGrid="0">
      <p:cViewPr varScale="1">
        <p:scale>
          <a:sx n="67" d="100"/>
          <a:sy n="67" d="100"/>
        </p:scale>
        <p:origin x="11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7534113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Dr. Shreya Shah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         shre9952@gmail.com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like Agriculture / Education / Healthcare / …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Write your project title here</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Investment analysts need to process multiple layers of information—financial reports, stock performance data, market news, and analyst opinions. Much of this information is fragmented and requires a sequence of tasks (data gathering, validation, analysis, comparison, and reporting) to generate useful insights. Manual workflows are time-consuming and prone to errors. The challenge is not just to collect market data but to automate sequential tasks that lead to actionable investment recommendations. </a:t>
            </a:r>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93866"/>
          </a:xfrm>
          <a:prstGeom prst="rect">
            <a:avLst/>
          </a:prstGeom>
          <a:noFill/>
        </p:spPr>
        <p:txBody>
          <a:bodyPr wrap="square" rtlCol="0">
            <a:spAutoFit/>
          </a:bodyPr>
          <a:lstStyle/>
          <a:p>
            <a:pPr fontAlgn="base"/>
            <a:endParaRPr lang="en-US" b="1" dirty="0"/>
          </a:p>
          <a:p>
            <a:r>
              <a:rPr lang="en-US" b="1" dirty="0"/>
              <a:t>Proposed Solution: AI-Powered Nutrition Agent</a:t>
            </a:r>
          </a:p>
          <a:p>
            <a:pPr algn="just"/>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and nutrition management. The system addresses challenges in diet planning, nutrition tracking, and preventive healthcare by delivering accurate, data-driven recommendations tailored to individual needs. At its core, the solution utilizes a </a:t>
            </a:r>
            <a:r>
              <a:rPr lang="en-US" b="1" dirty="0"/>
              <a:t>Retrieval-Augmented Generation (RAG)</a:t>
            </a:r>
            <a:r>
              <a:rPr lang="en-US" dirty="0"/>
              <a:t> pipeline to fetch reliable nutritional information from trusted sources such as USDA </a:t>
            </a:r>
            <a:r>
              <a:rPr lang="en-US" dirty="0" err="1"/>
              <a:t>FoodData</a:t>
            </a:r>
            <a:r>
              <a:rPr lang="en-US" dirty="0"/>
              <a:t> Central, WHO dietary guidelines, and nutrition databases. The retrieved information is stored in a vector database, allowing Granite models to efficiently retrieve, summarize, and explain nutritional values including calories, macronutrients, vitamins, and minerals.</a:t>
            </a:r>
          </a:p>
          <a:p>
            <a:pPr algn="just"/>
            <a:endParaRPr lang="en-US" dirty="0"/>
          </a:p>
          <a:p>
            <a:pPr algn="just"/>
            <a:r>
              <a:rPr lang="en-US" dirty="0"/>
              <a:t>The system consists of four key agents. The </a:t>
            </a:r>
            <a:r>
              <a:rPr lang="en-US" b="1" dirty="0"/>
              <a:t>Nutrition Knowledge Agent</a:t>
            </a:r>
            <a:r>
              <a:rPr lang="en-US" dirty="0"/>
              <a:t> retrieves and summarizes nutritional information for foods and ingredients using the RAG framework. The </a:t>
            </a:r>
            <a:r>
              <a:rPr lang="en-US" b="1" dirty="0"/>
              <a:t>Diet Recommendation Agent</a:t>
            </a:r>
            <a:r>
              <a:rPr lang="en-US" dirty="0"/>
              <a:t> generates personalized meal plans based on user profiles, including age, health conditions, allergies, dietary preferences, cultural requirements, and fitness goals. The </a:t>
            </a:r>
            <a:r>
              <a:rPr lang="en-US" b="1" dirty="0"/>
              <a:t>Health Advisory Agent</a:t>
            </a:r>
            <a:r>
              <a:rPr lang="en-US" dirty="0"/>
              <a:t> provides preventive healthcare guidance by recommending condition-specific diets such as diabetes-friendly, heart-healthy, or weight-management meal plans. The </a:t>
            </a:r>
            <a:r>
              <a:rPr lang="en-US" b="1" dirty="0"/>
              <a:t>Food Log &amp; Feedback Agent</a:t>
            </a:r>
            <a:r>
              <a:rPr lang="en-US" dirty="0"/>
              <a:t> enables users to log meals through text, voice, or image inputs and instantly analyzes nutrient intake, providing actionable feedback and suggestions for improvement.</a:t>
            </a:r>
          </a:p>
          <a:p>
            <a:pPr algn="just"/>
            <a:endParaRPr lang="en-US" dirty="0"/>
          </a:p>
          <a:p>
            <a:pPr algn="just"/>
            <a:r>
              <a:rPr lang="en-US" dirty="0"/>
              <a:t>The solution also includes an interactive dashboard built with </a:t>
            </a:r>
            <a:r>
              <a:rPr lang="en-US" b="1" dirty="0" err="1"/>
              <a:t>Streamlit</a:t>
            </a:r>
            <a:r>
              <a:rPr lang="en-US" b="1" dirty="0"/>
              <a:t> or React</a:t>
            </a:r>
            <a:r>
              <a:rPr lang="en-US" dirty="0"/>
              <a:t>, which visualizes daily and weekly nutrient consumption, calorie intake, macronutrient distribution, nutritional deficiencies, and progress toward health goals. </a:t>
            </a:r>
            <a:r>
              <a:rPr lang="en-US" b="1" dirty="0" err="1"/>
              <a:t>LangFlow</a:t>
            </a:r>
            <a:r>
              <a:rPr lang="en-US" dirty="0"/>
              <a:t> orchestrates the workflow between agents, ensuring seamless data retrieval, analysis, and recommendation generation. </a:t>
            </a:r>
            <a:r>
              <a:rPr lang="en-US" b="1" dirty="0"/>
              <a:t>IBM watsonx.ai</a:t>
            </a:r>
            <a:r>
              <a:rPr lang="en-US" dirty="0"/>
              <a:t> provides scalable AI deployment, embeddings, and governance capabilities, while </a:t>
            </a:r>
            <a:r>
              <a:rPr lang="en-US" b="1" dirty="0"/>
              <a:t>Granite Models</a:t>
            </a:r>
            <a:r>
              <a:rPr lang="en-US" dirty="0"/>
              <a:t> power nutrition reasoning, summarization, personalization, and conversational assistance. Overall, the solution delivers an end-to-end intelligent nutrition assistant that empowers individuals, families, and healthcare professionals to make informed dietary decisions, maintain balanced nutrition, and support long-term health and wellness goals.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a:t>
            </a:r>
            <a:r>
              <a:rPr lang="en-US" b="1" err="1"/>
              <a:t>watsonx</a:t>
            </a:r>
            <a:r>
              <a:rPr lang="en-US" b="1"/>
              <a:t> AI Agent </a:t>
            </a:r>
            <a:r>
              <a:rPr lang="en-US"/>
              <a:t>- Processes user input using Granite models to generate personalized nutrition insights and recommendations. </a:t>
            </a:r>
          </a:p>
          <a:p>
            <a:endParaRPr lang="en-US"/>
          </a:p>
          <a:p>
            <a:r>
              <a:rPr lang="en-US" b="1"/>
              <a:t>3) Name of IBM Granite model - </a:t>
            </a:r>
            <a:r>
              <a:rPr lang="en-US"/>
              <a:t>Granite-4.0-8B-Instruct → Fast, efficient for real-time diet recommendations</a:t>
            </a:r>
          </a:p>
          <a:p>
            <a:endParaRPr lang="en-US"/>
          </a:p>
          <a:p>
            <a:r>
              <a:rPr lang="en-US" b="1"/>
              <a:t>4) Chat output -</a:t>
            </a:r>
            <a:r>
              <a:rPr lang="en-US"/>
              <a:t>Displays AI-generated responses such as diet plans, nutritional analysis, and health suggestions. </a:t>
            </a:r>
          </a:p>
          <a:p>
            <a:endParaRPr lang="en-US"/>
          </a:p>
          <a:p>
            <a:r>
              <a:rPr lang="en-US" b="1"/>
              <a:t>5) </a:t>
            </a:r>
            <a:r>
              <a:rPr lang="en-US" b="1">
                <a:highlight>
                  <a:srgbClr val="FFFF00"/>
                </a:highlight>
              </a:rPr>
              <a:t>File component - </a:t>
            </a:r>
            <a:r>
              <a:rPr lang="en-US">
                <a:highlight>
                  <a:srgbClr val="FFFF00"/>
                </a:highlight>
              </a:rPr>
              <a:t>Stores and retrieves user data, meal logs, and nutritional datasets for analysis and tracking.</a:t>
            </a:r>
          </a:p>
          <a:p>
            <a:endParaRPr lang="en-US"/>
          </a:p>
          <a:p>
            <a:endParaRPr lang="en-US"/>
          </a:p>
          <a:p>
            <a:r>
              <a:rPr lang="en-US"/>
              <a:t>6) </a:t>
            </a:r>
            <a:r>
              <a:rPr lang="en-US">
                <a:highlight>
                  <a:srgbClr val="FFFF00"/>
                </a:highlight>
              </a:rPr>
              <a:t>Add name of any other component used.</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6" name="Picture 5">
            <a:extLst>
              <a:ext uri="{FF2B5EF4-FFF2-40B4-BE49-F238E27FC236}">
                <a16:creationId xmlns:a16="http://schemas.microsoft.com/office/drawing/2014/main" id="{9A0A1805-3B80-426B-A390-7125C56FA254}"/>
              </a:ext>
            </a:extLst>
          </p:cNvPr>
          <p:cNvPicPr>
            <a:picLocks noChangeAspect="1"/>
          </p:cNvPicPr>
          <p:nvPr/>
        </p:nvPicPr>
        <p:blipFill>
          <a:blip r:embed="rId3"/>
          <a:stretch>
            <a:fillRect/>
          </a:stretch>
        </p:blipFill>
        <p:spPr>
          <a:xfrm>
            <a:off x="1424535" y="1211388"/>
            <a:ext cx="9342930" cy="443522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5" name="Picture 4">
            <a:extLst>
              <a:ext uri="{FF2B5EF4-FFF2-40B4-BE49-F238E27FC236}">
                <a16:creationId xmlns:a16="http://schemas.microsoft.com/office/drawing/2014/main" id="{FBF7019A-EEA7-454B-B508-274B0955AA45}"/>
              </a:ext>
            </a:extLst>
          </p:cNvPr>
          <p:cNvPicPr>
            <a:picLocks noChangeAspect="1"/>
          </p:cNvPicPr>
          <p:nvPr/>
        </p:nvPicPr>
        <p:blipFill>
          <a:blip r:embed="rId3"/>
          <a:stretch>
            <a:fillRect/>
          </a:stretch>
        </p:blipFill>
        <p:spPr>
          <a:xfrm>
            <a:off x="537590" y="771747"/>
            <a:ext cx="10788424" cy="61508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401205"/>
          </a:xfrm>
          <a:prstGeom prst="rect">
            <a:avLst/>
          </a:prstGeom>
          <a:noFill/>
        </p:spPr>
        <p:txBody>
          <a:bodyPr wrap="square" rtlCol="0">
            <a:spAutoFit/>
          </a:bodyPr>
          <a:lstStyle/>
          <a:p>
            <a:r>
              <a:rPr lang="en-US" b="1" dirty="0"/>
              <a:t>Role of Agentic AI in the Nutrition Agent:</a:t>
            </a:r>
            <a:br>
              <a:rPr lang="en-US" dirty="0"/>
            </a:br>
            <a:r>
              <a:rPr lang="en-US" dirty="0"/>
              <a:t>Agentic AI serves as the intelligent decision-making and orchestration layer within the Nutrition Agent. It interprets user queries, determines the appropriate actions required, retrieves relevant nutritional knowledge from databases or RAG systems, interacts with external tools such as calorie calculators and food composition APIs, and synthesizes personalized, evidence-based recommendations. By planning, reasoning, and executing multiple steps autonomously, Agentic AI enables the system to provide accurate nutrition guidance, meal planning suggestions, dietary analysis, and contextual explanations while ensuring safety, compliance, and high-quality responses through integrated validation and guardrail mechanisms.</a:t>
            </a:r>
          </a:p>
          <a:p>
            <a:endParaRPr lang="en-US" dirty="0"/>
          </a:p>
          <a:p>
            <a:r>
              <a:rPr lang="en-US" dirty="0"/>
              <a:t>In addition, Agentic AI continuously evaluates the context of each interaction to adapt its recommendations according to the user's goals, dietary preferences, health conditions, and nutritional requirements. It can break down complex tasks into smaller actions, such as analyzing food intake, comparing nutritional values, identifying dietary deficiencies, and generating customized meal plans. By leveraging retrieval-augmented knowledge, tool integration, and intelligent workflow execution, the agent delivers more reliable and actionable insights than a traditional chatbot. This autonomous and context-aware capability enhances user engagement, supports informed dietary decisions, and promotes healthier lifestyle choices through personalized, scalable, and trustworthy nutrition assistance.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265508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AD1CB366-4499-4549-87D3-7786958D3A40}"/>
              </a:ext>
            </a:extLst>
          </p:cNvPr>
          <p:cNvPicPr>
            <a:picLocks noChangeAspect="1"/>
          </p:cNvPicPr>
          <p:nvPr/>
        </p:nvPicPr>
        <p:blipFill>
          <a:blip r:embed="rId3"/>
          <a:stretch>
            <a:fillRect/>
          </a:stretch>
        </p:blipFill>
        <p:spPr>
          <a:xfrm>
            <a:off x="5452191" y="2462536"/>
            <a:ext cx="6470172" cy="2871842"/>
          </a:xfrm>
          <a:prstGeom prst="rect">
            <a:avLst/>
          </a:prstGeom>
        </p:spPr>
      </p:pic>
      <p:pic>
        <p:nvPicPr>
          <p:cNvPr id="16" name="Picture 15">
            <a:extLst>
              <a:ext uri="{FF2B5EF4-FFF2-40B4-BE49-F238E27FC236}">
                <a16:creationId xmlns:a16="http://schemas.microsoft.com/office/drawing/2014/main" id="{C530FD98-DF9B-4FFA-BFF9-0C6D80989A21}"/>
              </a:ext>
            </a:extLst>
          </p:cNvPr>
          <p:cNvPicPr>
            <a:picLocks noChangeAspect="1"/>
          </p:cNvPicPr>
          <p:nvPr/>
        </p:nvPicPr>
        <p:blipFill>
          <a:blip r:embed="rId4"/>
          <a:stretch>
            <a:fillRect/>
          </a:stretch>
        </p:blipFill>
        <p:spPr>
          <a:xfrm>
            <a:off x="269637" y="2493729"/>
            <a:ext cx="4892839" cy="2840649"/>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693319"/>
          </a:xfrm>
          <a:prstGeom prst="rect">
            <a:avLst/>
          </a:prstGeom>
          <a:noFill/>
        </p:spPr>
        <p:txBody>
          <a:bodyPr wrap="square" rtlCol="0">
            <a:spAutoFit/>
          </a:bodyPr>
          <a:lstStyle/>
          <a:p>
            <a:pPr algn="just"/>
            <a:r>
              <a:rPr lang="en-US" sz="2000" dirty="0"/>
              <a:t>The </a:t>
            </a:r>
            <a:r>
              <a:rPr lang="en-US" sz="2000" b="1" dirty="0"/>
              <a:t>Nutrition Knowledge Agent</a:t>
            </a:r>
            <a:r>
              <a:rPr lang="en-US" sz="2000" dirty="0"/>
              <a:t> combines </a:t>
            </a:r>
            <a:r>
              <a:rPr lang="en-US" sz="2000" b="1" dirty="0"/>
              <a:t>Agentic AI, Retrieval-Augmented Generation (RAG), and nutrition-specific knowledge sources</a:t>
            </a:r>
            <a:r>
              <a:rPr lang="en-US" sz="2000" dirty="0"/>
              <a:t> to deliver personalized and evidence-based dietary guidance. Unlike traditional chatbots that provide generic responses, the agent can reason, retrieve trusted nutritional information, perform dietary analysis, and generate tailored recommendations based on user needs.</a:t>
            </a:r>
          </a:p>
          <a:p>
            <a:pPr algn="just"/>
            <a:endParaRPr lang="en-US" sz="2000" dirty="0"/>
          </a:p>
          <a:p>
            <a:pPr algn="just"/>
            <a:r>
              <a:rPr lang="en-US" sz="2000" dirty="0"/>
              <a:t>Its uniqueness lies in the integration of </a:t>
            </a:r>
            <a:r>
              <a:rPr lang="en-US" sz="2000" b="1" dirty="0"/>
              <a:t>AI-driven planning, external nutrition tools, and safety guardrails</a:t>
            </a:r>
            <a:r>
              <a:rPr lang="en-US" sz="2000" dirty="0"/>
              <a:t>, enabling accurate meal planning, calorie analysis, and nutrition recommendations while minimizing misinformation. This transforms the system from a simple Q&amp;A chatbot into an intelligent, context-aware nutrition assistant that provides reliable, personalized, and actionable health insights.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–https://github.com/sbdemgit/Nutrition-Agent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indent="-342900">
              <a:lnSpc>
                <a:spcPct val="150000"/>
              </a:lnSpc>
              <a:buFont typeface="Arial" panose="020B0604020202020204" pitchFamily="34" charset="0"/>
              <a:buChar char="•"/>
            </a:pPr>
            <a:r>
              <a:rPr lang="en-US" sz="2000" dirty="0"/>
              <a:t>Integrate with </a:t>
            </a:r>
            <a:r>
              <a:rPr lang="en-US" sz="2000" b="1" dirty="0"/>
              <a:t>fitness trackers and smart wearables</a:t>
            </a:r>
            <a:r>
              <a:rPr lang="en-US" sz="2000" dirty="0"/>
              <a:t> for real-time health monitoring. </a:t>
            </a:r>
          </a:p>
          <a:p>
            <a:pPr marL="342900" indent="-342900">
              <a:lnSpc>
                <a:spcPct val="150000"/>
              </a:lnSpc>
              <a:buFont typeface="Arial" panose="020B0604020202020204" pitchFamily="34" charset="0"/>
              <a:buChar char="•"/>
            </a:pPr>
            <a:r>
              <a:rPr lang="en-US" sz="2000" dirty="0"/>
              <a:t>Provide </a:t>
            </a:r>
            <a:r>
              <a:rPr lang="en-US" sz="2000" b="1" dirty="0"/>
              <a:t>personalized meal plans</a:t>
            </a:r>
            <a:r>
              <a:rPr lang="en-US" sz="2000" dirty="0"/>
              <a:t> based on age, weight, and health goals. </a:t>
            </a:r>
          </a:p>
          <a:p>
            <a:pPr marL="342900" indent="-342900">
              <a:lnSpc>
                <a:spcPct val="150000"/>
              </a:lnSpc>
              <a:buFont typeface="Arial" panose="020B0604020202020204" pitchFamily="34" charset="0"/>
              <a:buChar char="•"/>
            </a:pPr>
            <a:r>
              <a:rPr lang="en-US" sz="2000" dirty="0"/>
              <a:t>Support </a:t>
            </a:r>
            <a:r>
              <a:rPr lang="en-US" sz="2000" b="1" dirty="0"/>
              <a:t>multiple languages</a:t>
            </a:r>
            <a:r>
              <a:rPr lang="en-US" sz="2000" dirty="0"/>
              <a:t> to reach a wider audience. </a:t>
            </a:r>
          </a:p>
          <a:p>
            <a:pPr marL="342900" indent="-342900">
              <a:lnSpc>
                <a:spcPct val="150000"/>
              </a:lnSpc>
              <a:buFont typeface="Arial" panose="020B0604020202020204" pitchFamily="34" charset="0"/>
              <a:buChar char="•"/>
            </a:pPr>
            <a:r>
              <a:rPr lang="en-US" sz="2000" dirty="0"/>
              <a:t>Add </a:t>
            </a:r>
            <a:r>
              <a:rPr lang="en-US" sz="2000" b="1" dirty="0"/>
              <a:t>voice-based interaction</a:t>
            </a:r>
            <a:r>
              <a:rPr lang="en-US" sz="2000" dirty="0"/>
              <a:t> for easier accessibility. </a:t>
            </a:r>
          </a:p>
          <a:p>
            <a:pPr marL="342900" indent="-342900">
              <a:lnSpc>
                <a:spcPct val="150000"/>
              </a:lnSpc>
              <a:buFont typeface="Arial" panose="020B0604020202020204" pitchFamily="34" charset="0"/>
              <a:buChar char="•"/>
            </a:pPr>
            <a:r>
              <a:rPr lang="en-US" sz="2000" dirty="0"/>
              <a:t>Include </a:t>
            </a:r>
            <a:r>
              <a:rPr lang="en-US" sz="2000" b="1" dirty="0"/>
              <a:t>disease-specific nutrition guidance</a:t>
            </a:r>
            <a:r>
              <a:rPr lang="en-US" sz="2000" dirty="0"/>
              <a:t> (e.g., diabetes, hypertension). </a:t>
            </a:r>
          </a:p>
          <a:p>
            <a:pPr marL="342900" indent="-342900">
              <a:lnSpc>
                <a:spcPct val="150000"/>
              </a:lnSpc>
              <a:buFont typeface="Arial" panose="020B0604020202020204" pitchFamily="34" charset="0"/>
              <a:buChar char="•"/>
            </a:pPr>
            <a:r>
              <a:rPr lang="en-US" sz="2000" dirty="0"/>
              <a:t>Develop a </a:t>
            </a:r>
            <a:r>
              <a:rPr lang="en-US" sz="2000" b="1" dirty="0"/>
              <a:t>mobile application</a:t>
            </a:r>
            <a:r>
              <a:rPr lang="en-US" sz="2000" dirty="0"/>
              <a:t> for on-the-go nutrition assistance. </a:t>
            </a:r>
          </a:p>
          <a:p>
            <a:pPr marL="342900" indent="-342900">
              <a:lnSpc>
                <a:spcPct val="150000"/>
              </a:lnSpc>
              <a:buFont typeface="Arial" panose="020B0604020202020204" pitchFamily="34" charset="0"/>
              <a:buChar char="•"/>
            </a:pPr>
            <a:r>
              <a:rPr lang="en-US" sz="2000" dirty="0"/>
              <a:t>Enable </a:t>
            </a:r>
            <a:r>
              <a:rPr lang="en-US" sz="2000" b="1" dirty="0"/>
              <a:t>daily nutrition tracking</a:t>
            </a:r>
            <a:r>
              <a:rPr lang="en-US" sz="2000" dirty="0"/>
              <a:t> and progress monitoring. </a:t>
            </a:r>
          </a:p>
          <a:p>
            <a:pPr marL="342900" indent="-342900">
              <a:lnSpc>
                <a:spcPct val="150000"/>
              </a:lnSpc>
              <a:buFont typeface="Arial" panose="020B0604020202020204" pitchFamily="34" charset="0"/>
              <a:buChar char="•"/>
            </a:pPr>
            <a:r>
              <a:rPr lang="en-US" sz="2000" dirty="0"/>
              <a:t>Expand the knowledge base with the latest nutrition research and guidelines. </a:t>
            </a:r>
          </a:p>
          <a:p>
            <a:pPr marL="342900" indent="-342900">
              <a:lnSpc>
                <a:spcPct val="150000"/>
              </a:lnSpc>
              <a:buFont typeface="Arial" panose="020B0604020202020204" pitchFamily="34" charset="0"/>
              <a:buChar char="•"/>
            </a:pPr>
            <a:r>
              <a:rPr lang="en-US" sz="2000" dirty="0"/>
              <a:t>These enhancements can make the Nutrition Knowledge Agent more intelligent, personalized, and user-friendly.</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7" name="Picture 6">
            <a:extLst>
              <a:ext uri="{FF2B5EF4-FFF2-40B4-BE49-F238E27FC236}">
                <a16:creationId xmlns:a16="http://schemas.microsoft.com/office/drawing/2014/main" id="{659D712B-39A5-4C5E-ADE4-3AA1835DB694}"/>
              </a:ext>
            </a:extLst>
          </p:cNvPr>
          <p:cNvPicPr>
            <a:picLocks noChangeAspect="1"/>
          </p:cNvPicPr>
          <p:nvPr/>
        </p:nvPicPr>
        <p:blipFill>
          <a:blip r:embed="rId2"/>
          <a:stretch>
            <a:fillRect/>
          </a:stretch>
        </p:blipFill>
        <p:spPr>
          <a:xfrm>
            <a:off x="552048" y="690062"/>
            <a:ext cx="10365888" cy="559668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E49DB4C6-AA5B-4B18-AD29-5AF5C8F0ADE1}"/>
              </a:ext>
            </a:extLst>
          </p:cNvPr>
          <p:cNvPicPr>
            <a:picLocks noChangeAspect="1"/>
          </p:cNvPicPr>
          <p:nvPr/>
        </p:nvPicPr>
        <p:blipFill>
          <a:blip r:embed="rId2"/>
          <a:stretch>
            <a:fillRect/>
          </a:stretch>
        </p:blipFill>
        <p:spPr>
          <a:xfrm>
            <a:off x="496842" y="800470"/>
            <a:ext cx="10933157" cy="622978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TotalTime>
  <Words>1539</Words>
  <Application>Microsoft Office PowerPoint</Application>
  <PresentationFormat>Widescreen</PresentationFormat>
  <Paragraphs>117</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HP</cp:lastModifiedBy>
  <cp:revision>4</cp:revision>
  <dcterms:created xsi:type="dcterms:W3CDTF">2025-07-08T05:06:56Z</dcterms:created>
  <dcterms:modified xsi:type="dcterms:W3CDTF">2026-06-26T16:23:07Z</dcterms:modified>
</cp:coreProperties>
</file>